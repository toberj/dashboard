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slide, same naming convention as previous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lines of what happened since last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warehouse loading-dock scene. Sim IS the deployment: the demo runs the same binary that goes on hardware; going real = one NIC param + the real camera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40-60 s. One continuous take: 9 thrown / 8 caught / 6 delivered (4 consecutive), two slipped catches auto-recovered, zero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30 s. Green = passed all gates, feeds the Kalman filter. Red = rejected with reason (truck wheels were carton-sized false positives). Yellow = hugged box feeding the carry heartbeat. Tilted start = hanging on the gantry; policy takes over in one tick at 41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boundary = training-distribution boundary, cell by cell (55-throw scan). Widening only the throw DR (one overnight finetune, warm-start) takes the death band from 18% to 79%, no regression elsewhere, zero falls under freeze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30 s. Yesterday 18%, today 7/7. The G1 thrower walks the truck bed holding the box 3-9 s, releases without warning at ~2 m. While held, the policy deliberately sees nothing; on release the KF re-acquires in 0.2-0.3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 target is a throttle, not a position: torque = kp x (target - actual). A target 1.8-2.45 rad beyond the stop = sustained max torque into the end stop. Invisible under load; slams when the limb unloads (the physics of our 07/18 hardware incident). Since v34 the motors can never receive an out-of-range target (code-level clamp). Retraining with the clamp: falls fixed, habit 97.6% extinct; legal-torque ceiling currently 36-50% (the honest price).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closed, measured, open. The 0.28 m/chain walking-odometry drift came free from loop forensics — our first quantitative sim2real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two ladders and the dashboard link.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</a:rPr>
              <a:t>Humanoid 8/7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Humanoid 8/7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2000">
                <a:solidFill>
                  <a:srgbClr val="111111"/>
                </a:solidFill>
              </a:rPr>
              <a:t>Recap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1.   Warehouse sim: full catch-and-deliver LOOP (real vision)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2.   Capability envelope measured; targeted finetune 18% → 79%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3.   Deploy safety audit: joint-limit abuse found &amp; fixed</a:t>
            </a:r>
          </a:p>
        </p:txBody>
      </p:sp>
      <p:pic>
        <p:nvPicPr>
          <p:cNvPr id="4" name="Picture 3" descr="offer_29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New scene: warehouse loading dock (full loop)</a:t>
            </a:r>
          </a:p>
        </p:txBody>
      </p:sp>
      <p:pic>
        <p:nvPicPr>
          <p:cNvPr id="3" name="Picture 2" descr="thrower_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51560"/>
            <a:ext cx="585216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2000">
                <a:solidFill>
                  <a:srgbClr val="111111"/>
                </a:solidFill>
              </a:rPr>
              <a:t>Catch → carry → find receiver → hand over → loop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1.   Vision-centric: YOLO box + GroundingDINO person, no ground truth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2.   Full physics: catch impact, slips, drops, colliding props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3.   Same code as the real robot (twin only swaps the NIC)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Full loop — one take: 8/9 caught, 6 delivered, 0 falls</a:t>
            </a:r>
          </a:p>
        </p:txBody>
      </p:sp>
      <p:pic>
        <p:nvPicPr>
          <p:cNvPr id="3" name="FINAL_6xdelivery_dec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7440" y="1005840"/>
            <a:ext cx="7452360" cy="4187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7440" y="5349240"/>
            <a:ext cx="7452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misses re-thrown, slips refused by the guard, ghost carries abandoned — the loop never deadlocks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Robot first-person view — what the detector sees</a:t>
            </a:r>
          </a:p>
        </p:txBody>
      </p:sp>
      <p:pic>
        <p:nvPicPr>
          <p:cNvPr id="3" name="FINAL_pov_vision_dec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63240" y="1005840"/>
            <a:ext cx="6062472" cy="4544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5669280"/>
            <a:ext cx="6062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HUD: stage / active policy / per-detection verdict (green pass, red reject, yellow heartbeat)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Catch envelope = training distribution</a:t>
            </a:r>
          </a:p>
        </p:txBody>
      </p:sp>
      <p:pic>
        <p:nvPicPr>
          <p:cNvPr id="3" name="Picture 2" descr="envelop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7223760" cy="3008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1900">
                <a:solidFill>
                  <a:srgbClr val="111111"/>
                </a:solidFill>
              </a:rPr>
              <a:t>55-throw scan (v31c)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training box: 80%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2.   high release 1.7–2.4 m: 18%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3.   far 4–7 m: 36%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111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i="1" b="1" sz="1900">
                <a:solidFill>
                  <a:srgbClr val="111111"/>
                </a:solidFill>
              </a:rPr>
              <a:t>finetune = widen throw DR only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death band 18% → 79% (one night)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After finetune: 7/7 in the death band</a:t>
            </a:r>
          </a:p>
        </p:txBody>
      </p:sp>
      <p:pic>
        <p:nvPicPr>
          <p:cNvPr id="3" name="FINAL_v33_7x7_dec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7440" y="1005840"/>
            <a:ext cx="7452360" cy="4187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7440" y="5349240"/>
            <a:ext cx="7452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walking thrower, random 3–9 s hold, ~2 m release — same scene, same ruler, only the training distribution changed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Safety finding: joint limits used as a free throttle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torque = kp × (target − actual)  — the policy wrote targets 1.8–2.45 rad beyond the mechanical stop = max torque pressed into the end stop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2.   invisible under load (community-standard penalties watch the REALIZED position — it never reaches the wall); slams the stop the moment a limb unloads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3.   fix: clamp every PD target to joint limits, in training AND deploy — motors can no longer receive out-of-range commands (guaranteed by code)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4.   honest price: unclamped scores (79/80%) were partly bought by stop-grinding; legal-torque ceiling is 36–50% today — the gap = action-space upgrade target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refs: LATENT (G1 tennis) · ETH badminton (Sci. Robotics 25) · HITTER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Sim-to-real: 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1900">
                <a:solidFill>
                  <a:srgbClr val="111111"/>
                </a:solidFill>
              </a:rPr>
              <a:t>Closed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deploy-code identity · real detectors · full contact physics · dirty-vision battery (freeze: tilt peak 7.8°, zero falls)</a:t>
            </a:r>
          </a:p>
          <a:p>
            <a:pPr algn="l">
              <a:spcAft>
                <a:spcPts val="800"/>
              </a:spcAft>
            </a:pPr>
            <a:r>
              <a:rPr i="1" b="1" sz="1900">
                <a:solidFill>
                  <a:srgbClr val="111111"/>
                </a:solidFill>
              </a:rPr>
              <a:t>Measured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walking odometry drift: 0.28 m per delivery chain (bounded by per-chain re-calibration)</a:t>
            </a:r>
          </a:p>
          <a:p>
            <a:pPr algn="l">
              <a:spcAft>
                <a:spcPts val="800"/>
              </a:spcAft>
            </a:pPr>
            <a:r>
              <a:rPr i="1" b="1" sz="1900">
                <a:solidFill>
                  <a:srgbClr val="111111"/>
                </a:solidFill>
              </a:rPr>
              <a:t>Open</a:t>
            </a:r>
          </a:p>
          <a:p>
            <a:pPr algn="l">
              <a:spcAft>
                <a:spcPts val="800"/>
              </a:spcAft>
            </a:pPr>
            <a:r>
              <a:rPr i="1" b="1" sz="1500">
                <a:solidFill>
                  <a:srgbClr val="111111"/>
                </a:solidFill>
              </a:rPr>
              <a:t>1.   camera artifacts (blur / stereo-depth noise) · handoff pull force · carry reference waist-limit fix before real carry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2000">
                <a:solidFill>
                  <a:srgbClr val="111111"/>
                </a:solidFill>
              </a:rPr>
              <a:t>Performance (back to 80% on legal torque)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1.   imitation guidance + contact-window reward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2.   ankle kp / feed-forward torque (action space)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3.   LATENT-style action-manifold prior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2000">
                <a:solidFill>
                  <a:srgbClr val="111111"/>
                </a:solidFill>
              </a:rPr>
              <a:t>Hardware ladder (when G1 returns)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1.   gantry static: stand + guards live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2.   catch in place + torque calibration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3.   hands-free navigation + scan</a:t>
            </a:r>
          </a:p>
          <a:p>
            <a:pPr algn="l">
              <a:spcAft>
                <a:spcPts val="800"/>
              </a:spcAft>
            </a:pPr>
            <a:r>
              <a:rPr i="1" b="1" sz="1600">
                <a:solidFill>
                  <a:srgbClr val="111111"/>
                </a:solidFill>
              </a:rPr>
              <a:t>4.   the full loop, on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i="1" b="1" sz="1800">
                <a:solidFill>
                  <a:srgbClr val="111111"/>
                </a:solidFill>
              </a:rPr>
              <a:t>videos &amp; data: toberj.github.io/dashboard → Box Catch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