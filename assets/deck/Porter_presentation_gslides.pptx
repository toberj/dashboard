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78F03503-D6BA-45A0-B409-CF80D995991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Title slide, same naming convention as previous meetings.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6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4F23E94-BC24-4160-8262-98CE8CE7297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Three lines of what happened since last meeting.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9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9F7A1B1-9667-4CE7-B30C-03C0301D633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The warehouse loading-dock scene. Sim IS the deployment: the demo runs the same binary that goes on hardware; going real = one NIC param + the real camera node.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2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01257AF-CC33-41AD-BEA6-1E6E8EB8BC3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Play 40-60 s. One continuous take: 9 thrown / 8 caught / 6 delivered (4 consecutive), two slipped catches auto-recovered, zero falls.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5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D34164F-B876-4CFE-9290-8E24010FBF8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Play 30 s. Green = passed all gates, feeds the Kalman filter. Red = rejected with reason (truck wheels were carton-sized false positives). Yellow = hugged box feeding the carry heartbeat. Tilted start = hanging on the gantry; policy takes over in one tick at 41 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8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3C77F36-82FB-4454-85BB-25A979771A1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Capability boundary = training-distribution boundary, cell by cell (55-throw scan). Widening only the throw DR (one overnight finetune, warm-start) takes the death band from 18% to 79%, no regression elsewhere, zero falls under freeze injection.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1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B9FCE5E-D26D-4718-89A9-6B4325D4698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Play 30 s. Yesterday 18%, today 7/7. The G1 thrower walks the truck bed holding the box 3-9 s, releases without warning at ~2 m. While held, the policy deliberately sees nothing; on release the KF re-acquires in 0.2-0.3 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4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98BD182-2684-4C3C-AC33-DCEC76466B8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PD target is a throttle, not a position: torque = kp x (target - actual). A target 1.8-2.45 rad beyond the stop = sustained max torque into the end stop. Invisible under load; slams when the limb unloads (the physics of our 07/18 hardware incident). Since v34 the motors can never receive an out-of-range target (code-level clamp). Retraining with the clamp: falls fixed, habit 97.6% extinct; legal-torque ceiling currently 36-50% (the honest price).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7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7D9872D-6AB2-45A2-AD6E-A28D90C2D9F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What is closed, measured, open. The 0.28 m/chain walking-odometry drift came free from loop forensics — our first quantitative sim2real number.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0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961E836-BC1C-48D7-9AB6-E8A724FA495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Close with the two ladders and the dashboard link. Q&amp;A.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329E39E-0E5E-49F0-A76D-FC740F607DC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CE30C67-EF07-485A-9606-7CBD4A255AC2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8/6/26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82248E1-1523-4BC9-9D05-AB60B6EB36F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320040" y="137160"/>
            <a:ext cx="11521080" cy="60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Humanoid 8/7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Humanoid 8/7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548640" y="914400"/>
            <a:ext cx="6034680" cy="21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2000" spc="-1" strike="noStrike">
                <a:solidFill>
                  <a:srgbClr val="111111"/>
                </a:solidFill>
                <a:latin typeface="Calibri"/>
              </a:rPr>
              <a:t>Recap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1.   Warehouse sim: full catch-and-deliver LOOP (real vision)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2.   Capability envelope measured; targeted finetune 18% → 79%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3.   Deploy safety audit: joint-limit abuse found &amp; fixed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50" name="Picture 3" descr="offer_2950.png"/>
          <p:cNvPicPr/>
          <p:nvPr/>
        </p:nvPicPr>
        <p:blipFill>
          <a:blip r:embed="rId1"/>
          <a:stretch/>
        </p:blipFill>
        <p:spPr>
          <a:xfrm>
            <a:off x="6675120" y="1005840"/>
            <a:ext cx="5120280" cy="2880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New scene: warehouse loading dock (full loop)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2" name="Picture 2" descr="thrower_120.png"/>
          <p:cNvPicPr/>
          <p:nvPr/>
        </p:nvPicPr>
        <p:blipFill>
          <a:blip r:embed="rId1"/>
          <a:stretch/>
        </p:blipFill>
        <p:spPr>
          <a:xfrm>
            <a:off x="5943600" y="1051560"/>
            <a:ext cx="5851800" cy="3291480"/>
          </a:xfrm>
          <a:prstGeom prst="rect">
            <a:avLst/>
          </a:prstGeom>
          <a:ln>
            <a:noFill/>
          </a:ln>
        </p:spPr>
      </p:pic>
      <p:sp>
        <p:nvSpPr>
          <p:cNvPr id="53" name="CustomShape 2"/>
          <p:cNvSpPr/>
          <p:nvPr/>
        </p:nvSpPr>
        <p:spPr>
          <a:xfrm>
            <a:off x="548640" y="1097280"/>
            <a:ext cx="5211720" cy="246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2000" spc="-1" strike="noStrike">
                <a:solidFill>
                  <a:srgbClr val="111111"/>
                </a:solidFill>
                <a:latin typeface="Calibri"/>
              </a:rPr>
              <a:t>Catch → carry → find receiver → hand over → loop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1.   Vision-centric: YOLO box + GroundingDINO person, no ground truth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2.   Full physics: catch impact, slips, drops, colliding props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3.   Same code as the real robot (twin only swaps the NIC)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Full loop — one take: 8/9 caught, 6 delivered, 0 falls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5" name="Picture 2" descr="offer_2950.png"/>
          <p:cNvPicPr/>
          <p:nvPr/>
        </p:nvPicPr>
        <p:blipFill>
          <a:blip r:embed="rId1"/>
          <a:stretch/>
        </p:blipFill>
        <p:spPr>
          <a:xfrm>
            <a:off x="2377440" y="1005840"/>
            <a:ext cx="7452000" cy="4187520"/>
          </a:xfrm>
          <a:prstGeom prst="rect">
            <a:avLst/>
          </a:prstGeom>
          <a:ln>
            <a:noFill/>
          </a:ln>
        </p:spPr>
      </p:pic>
      <p:sp>
        <p:nvSpPr>
          <p:cNvPr id="56" name="CustomShape 2"/>
          <p:cNvSpPr/>
          <p:nvPr/>
        </p:nvSpPr>
        <p:spPr>
          <a:xfrm>
            <a:off x="2377440" y="5349240"/>
            <a:ext cx="74520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misses re-thrown, slips refused by the guard, ghost carries abandoned — the loop never deadlocks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Robot first-person view — what the detector sees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8" name="Picture 2" descr="pov_420.png"/>
          <p:cNvPicPr/>
          <p:nvPr/>
        </p:nvPicPr>
        <p:blipFill>
          <a:blip r:embed="rId1"/>
          <a:stretch/>
        </p:blipFill>
        <p:spPr>
          <a:xfrm>
            <a:off x="3063240" y="1005840"/>
            <a:ext cx="6062040" cy="4544280"/>
          </a:xfrm>
          <a:prstGeom prst="rect">
            <a:avLst/>
          </a:prstGeom>
          <a:ln>
            <a:noFill/>
          </a:ln>
        </p:spPr>
      </p:pic>
      <p:sp>
        <p:nvSpPr>
          <p:cNvPr id="59" name="CustomShape 2"/>
          <p:cNvSpPr/>
          <p:nvPr/>
        </p:nvSpPr>
        <p:spPr>
          <a:xfrm>
            <a:off x="3063240" y="5669280"/>
            <a:ext cx="606204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HUD: stage / active policy / per-detection verdict (green pass, red reject, yellow heartbeat)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Catch envelope = training distribution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61" name="Picture 2" descr="envelope_map.png"/>
          <p:cNvPicPr/>
          <p:nvPr/>
        </p:nvPicPr>
        <p:blipFill>
          <a:blip r:embed="rId1"/>
          <a:stretch/>
        </p:blipFill>
        <p:spPr>
          <a:xfrm>
            <a:off x="457200" y="1051560"/>
            <a:ext cx="7223400" cy="3008160"/>
          </a:xfrm>
          <a:prstGeom prst="rect">
            <a:avLst/>
          </a:prstGeom>
          <a:ln>
            <a:noFill/>
          </a:ln>
        </p:spPr>
      </p:pic>
      <p:sp>
        <p:nvSpPr>
          <p:cNvPr id="62" name="CustomShape 2"/>
          <p:cNvSpPr/>
          <p:nvPr/>
        </p:nvSpPr>
        <p:spPr>
          <a:xfrm>
            <a:off x="7955280" y="1188720"/>
            <a:ext cx="3931560" cy="29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900" spc="-1" strike="noStrike">
                <a:solidFill>
                  <a:srgbClr val="111111"/>
                </a:solidFill>
                <a:latin typeface="Calibri"/>
              </a:rPr>
              <a:t>55-throw scan (v31c)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1.   training box: 80%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2.   high release 1.7–2.4 m: 18%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3.   far 4–7 m: 36%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900" spc="-1" strike="noStrike">
                <a:solidFill>
                  <a:srgbClr val="111111"/>
                </a:solidFill>
                <a:latin typeface="Calibri"/>
              </a:rPr>
              <a:t>finetune = widen throw DR only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1.   death band 18% → 79% (one night)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After finetune: 7/7 in the death band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64" name="Picture 2" descr="catch_1500.png"/>
          <p:cNvPicPr/>
          <p:nvPr/>
        </p:nvPicPr>
        <p:blipFill>
          <a:blip r:embed="rId1"/>
          <a:stretch/>
        </p:blipFill>
        <p:spPr>
          <a:xfrm>
            <a:off x="2377440" y="1005840"/>
            <a:ext cx="7452000" cy="4187520"/>
          </a:xfrm>
          <a:prstGeom prst="rect">
            <a:avLst/>
          </a:prstGeom>
          <a:ln>
            <a:noFill/>
          </a:ln>
        </p:spPr>
      </p:pic>
      <p:sp>
        <p:nvSpPr>
          <p:cNvPr id="65" name="CustomShape 2"/>
          <p:cNvSpPr/>
          <p:nvPr/>
        </p:nvSpPr>
        <p:spPr>
          <a:xfrm>
            <a:off x="2377440" y="5349240"/>
            <a:ext cx="74520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walking thrower, random 3–9 s hold, ~2 m release — same scene, same ruler, only the training distribution changed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Safety finding: joint limits used as a free throttle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7" name="CustomShape 2"/>
          <p:cNvSpPr/>
          <p:nvPr/>
        </p:nvSpPr>
        <p:spPr>
          <a:xfrm>
            <a:off x="548640" y="1097280"/>
            <a:ext cx="11155320" cy="255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1.   torque = kp × (target − actual)  — the policy wrote targets 1.8–2.45 rad beyond the mechanical stop = max torque pressed into the end stop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2.   invisible under load (community-standard penalties watch the REALIZED position — it never reaches the wall); slams the stop the moment a limb unloads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3.   fix: clamp every PD target to joint limits, in training AND deploy — motors can no longer receive out-of-range commands (guaranteed by code)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4.   honest price: unclamped scores (79/80%) were partly bought by stop-grinding; legal-torque ceiling is 36–50% today — the gap = action-space upgrade target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refs: LATENT (G1 tennis) · ETH badminton (Sci. Robotics 25) · HITTER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Sim-to-real: honest status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CustomShape 2"/>
          <p:cNvSpPr/>
          <p:nvPr/>
        </p:nvSpPr>
        <p:spPr>
          <a:xfrm>
            <a:off x="548640" y="1097280"/>
            <a:ext cx="11155320" cy="2607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900" spc="-1" strike="noStrike">
                <a:solidFill>
                  <a:srgbClr val="111111"/>
                </a:solidFill>
                <a:latin typeface="Calibri"/>
              </a:rPr>
              <a:t>Closed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1.   deploy-code identity · real detectors · full contact physics · dirty-vision battery (freeze: tilt peak 7.8°, zero falls)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900" spc="-1" strike="noStrike">
                <a:solidFill>
                  <a:srgbClr val="111111"/>
                </a:solidFill>
                <a:latin typeface="Calibri"/>
              </a:rPr>
              <a:t>Measured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1.   walking odometry drift: 0.28 m per delivery chain (bounded by per-chain re-calibration)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900" spc="-1" strike="noStrike">
                <a:solidFill>
                  <a:srgbClr val="111111"/>
                </a:solidFill>
                <a:latin typeface="Calibri"/>
              </a:rPr>
              <a:t>Open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500" spc="-1" strike="noStrike">
                <a:solidFill>
                  <a:srgbClr val="111111"/>
                </a:solidFill>
                <a:latin typeface="Calibri"/>
              </a:rPr>
              <a:t>1.   camera artifacts (blur / stereo-depth noise) · handoff pull force · carry reference waist-limit fix before real carry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320040" y="137160"/>
            <a:ext cx="1152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</a:rPr>
              <a:t>Next steps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548640" y="1097280"/>
            <a:ext cx="5577480" cy="222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2000" spc="-1" strike="noStrike">
                <a:solidFill>
                  <a:srgbClr val="111111"/>
                </a:solidFill>
                <a:latin typeface="Calibri"/>
              </a:rPr>
              <a:t>Performance (back to 80% on legal torque)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1.   imitation guidance + contact-window reward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2.   ankle kp / feed-forward torque (action space)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3.   LATENT-style action-manifold prior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6400800" y="1097280"/>
            <a:ext cx="5394600" cy="177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2000" spc="-1" strike="noStrike">
                <a:solidFill>
                  <a:srgbClr val="111111"/>
                </a:solidFill>
                <a:latin typeface="Calibri"/>
              </a:rPr>
              <a:t>Hardware ladder (when G1 returns)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1.   gantry static: stand + guards live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2.   catch in place + torque calibration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3.   hands-free navigation + scan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600" spc="-1" strike="noStrike">
                <a:solidFill>
                  <a:srgbClr val="111111"/>
                </a:solidFill>
                <a:latin typeface="Calibri"/>
              </a:rPr>
              <a:t>4.   the full loop, on hardware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548640" y="5943600"/>
            <a:ext cx="11155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i="1" lang="en-US" sz="1800" spc="-1" strike="noStrike">
                <a:solidFill>
                  <a:srgbClr val="111111"/>
                </a:solidFill>
                <a:latin typeface="Calibri"/>
              </a:rPr>
              <a:t>videos &amp; data: toberj.github.io/dashboard → Box Catch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